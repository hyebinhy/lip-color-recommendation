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Noto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0PABzkuxHEk3ajJW1NNFqZaVW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otoSans-boldItalic.fntdata"/><Relationship Id="rId23" Type="http://schemas.openxmlformats.org/officeDocument/2006/relationships/font" Target="fonts/No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13.png"/><Relationship Id="rId13" Type="http://schemas.openxmlformats.org/officeDocument/2006/relationships/image" Target="../media/image5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26.png"/><Relationship Id="rId13" Type="http://schemas.openxmlformats.org/officeDocument/2006/relationships/image" Target="../media/image22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9.png"/><Relationship Id="rId13" Type="http://schemas.openxmlformats.org/officeDocument/2006/relationships/image" Target="../media/image46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5" Type="http://schemas.openxmlformats.org/officeDocument/2006/relationships/image" Target="../media/image31.png"/><Relationship Id="rId14" Type="http://schemas.openxmlformats.org/officeDocument/2006/relationships/image" Target="../media/image28.png"/><Relationship Id="rId17" Type="http://schemas.openxmlformats.org/officeDocument/2006/relationships/image" Target="../media/image44.png"/><Relationship Id="rId16" Type="http://schemas.openxmlformats.org/officeDocument/2006/relationships/image" Target="../media/image34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3.png"/><Relationship Id="rId10" Type="http://schemas.openxmlformats.org/officeDocument/2006/relationships/image" Target="../media/image30.png"/><Relationship Id="rId13" Type="http://schemas.openxmlformats.org/officeDocument/2006/relationships/image" Target="../media/image38.png"/><Relationship Id="rId1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5" Type="http://schemas.openxmlformats.org/officeDocument/2006/relationships/image" Target="../media/image42.png"/><Relationship Id="rId14" Type="http://schemas.openxmlformats.org/officeDocument/2006/relationships/image" Target="../media/image45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3uvybEPb0lJ7SiRkRSf8m704HOUIC4Ow/view?usp=sharing" TargetMode="External"/><Relationship Id="rId10" Type="http://schemas.openxmlformats.org/officeDocument/2006/relationships/image" Target="../media/image17.png"/><Relationship Id="rId1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about:blank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00700" y="5270500"/>
            <a:ext cx="1193800" cy="11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99500" y="527050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401300" y="5905500"/>
            <a:ext cx="673100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772900" y="53975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02500" y="5702300"/>
            <a:ext cx="1003300" cy="10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692400" y="2971800"/>
            <a:ext cx="128905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인공지능학과</a:t>
            </a:r>
            <a:r>
              <a:rPr b="0" i="0" lang="en-US" sz="9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캡스톤</a:t>
            </a:r>
            <a:r>
              <a:rPr b="0" i="0" lang="en-US" sz="9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9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디자인</a:t>
            </a:r>
            <a:r>
              <a:rPr b="0" i="0" lang="en-US" sz="9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7048500" y="7404100"/>
            <a:ext cx="4191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202121637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안혜빈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202121642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오지은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0900" y="2844800"/>
            <a:ext cx="11303000" cy="6184900"/>
          </a:xfrm>
          <a:prstGeom prst="rect">
            <a:avLst/>
          </a:prstGeom>
          <a:noFill/>
          <a:ln>
            <a:noFill/>
          </a:ln>
          <a:effectLst>
            <a:outerShdw blurRad="714863" dir="4020000" dist="237971">
              <a:srgbClr val="000000">
                <a:alpha val="20000"/>
              </a:srgbClr>
            </a:outerShdw>
          </a:effectLst>
        </p:spPr>
      </p:pic>
      <p:sp>
        <p:nvSpPr>
          <p:cNvPr id="111" name="Google Shape;111;p2"/>
          <p:cNvSpPr txBox="1"/>
          <p:nvPr/>
        </p:nvSpPr>
        <p:spPr>
          <a:xfrm>
            <a:off x="6502400" y="3111500"/>
            <a:ext cx="8242300" cy="56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1. Introduction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2. Data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3. Algorithm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4. Implementation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5. Result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6. Conclusion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054100" y="1905000"/>
            <a:ext cx="4673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98900" y="2971800"/>
            <a:ext cx="10490200" cy="5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609600" y="1739900"/>
            <a:ext cx="5664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01. Introduction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78000" y="3327400"/>
            <a:ext cx="9245600" cy="54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12141200" y="6223000"/>
            <a:ext cx="43307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→ 1502</a:t>
            </a:r>
            <a:r>
              <a:rPr b="0" i="0" lang="en-US" sz="4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12166600" y="4851400"/>
            <a:ext cx="4279900" cy="11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올리브영</a:t>
            </a:r>
            <a:r>
              <a:rPr b="0" i="0" lang="en-US" sz="32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립</a:t>
            </a:r>
            <a:r>
              <a:rPr b="0" i="0" lang="en-US" sz="32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카테고리에</a:t>
            </a:r>
            <a:r>
              <a:rPr b="0" i="0" lang="en-US" sz="32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있는</a:t>
            </a:r>
            <a:r>
              <a:rPr b="0" i="0" lang="en-US" sz="32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전제품</a:t>
            </a:r>
            <a:r>
              <a:rPr b="0" i="0" lang="en-US" sz="32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수집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15600" y="4495800"/>
            <a:ext cx="52705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592300" y="4495800"/>
            <a:ext cx="2082800" cy="161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50500" y="3810000"/>
            <a:ext cx="5753100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141200" y="3378200"/>
            <a:ext cx="2019300" cy="189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1841500" y="2921000"/>
            <a:ext cx="9055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▪ Colorgram 활용해서 최대 3가지 색 추출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2146300" y="4178300"/>
            <a:ext cx="90297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- Color Proportion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=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이미지에서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해당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색상이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차지하는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비율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494A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- 85%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이상인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RGB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값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채택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2687300" y="5334000"/>
            <a:ext cx="889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595959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74900" y="2997200"/>
            <a:ext cx="7061200" cy="58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9753600" y="4673600"/>
            <a:ext cx="77089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명도와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채도를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융합한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C523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b="1" i="0" lang="en-US" sz="3500" u="none" cap="none" strike="noStrike">
                <a:solidFill>
                  <a:srgbClr val="FC5230"/>
                </a:solidFill>
                <a:latin typeface="Calibri"/>
                <a:ea typeface="Calibri"/>
                <a:cs typeface="Calibri"/>
                <a:sym typeface="Calibri"/>
              </a:rPr>
              <a:t>톤</a:t>
            </a:r>
            <a:r>
              <a:rPr b="1" i="0" lang="en-US" sz="3500" u="none" cap="none" strike="noStrike">
                <a:solidFill>
                  <a:srgbClr val="FC5230"/>
                </a:solidFill>
                <a:latin typeface="Arial"/>
                <a:ea typeface="Arial"/>
                <a:cs typeface="Arial"/>
                <a:sym typeface="Arial"/>
              </a:rPr>
              <a:t>'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이라는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개념</a:t>
            </a:r>
            <a:endParaRPr/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494A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색상과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톤의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속성으로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나타냄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9300" y="3975100"/>
            <a:ext cx="167894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7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198" name="Google Shape;19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05" name="Google Shape;205;p8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49800" y="2197100"/>
            <a:ext cx="11379200" cy="701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 txBox="1"/>
          <p:nvPr/>
        </p:nvSpPr>
        <p:spPr>
          <a:xfrm>
            <a:off x="977900" y="4762500"/>
            <a:ext cx="276860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→ 14702</a:t>
            </a:r>
            <a:r>
              <a:rPr b="1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개</a:t>
            </a:r>
            <a:r>
              <a:rPr b="1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213" name="Google Shape;21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9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20" name="Google Shape;220;p9"/>
          <p:cNvSpPr txBox="1"/>
          <p:nvPr/>
        </p:nvSpPr>
        <p:spPr>
          <a:xfrm>
            <a:off x="368300" y="1739900"/>
            <a:ext cx="40132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02. Data</a:t>
            </a:r>
            <a:endParaRPr/>
          </a:p>
        </p:txBody>
      </p:sp>
      <p:sp>
        <p:nvSpPr>
          <p:cNvPr id="221" name="Google Shape;221;p9"/>
          <p:cNvSpPr txBox="1"/>
          <p:nvPr/>
        </p:nvSpPr>
        <p:spPr>
          <a:xfrm>
            <a:off x="889000" y="3035300"/>
            <a:ext cx="4826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▪ Data table </a:t>
            </a:r>
            <a:endParaRPr/>
          </a:p>
        </p:txBody>
      </p:sp>
      <p:sp>
        <p:nvSpPr>
          <p:cNvPr id="222" name="Google Shape;222;p9"/>
          <p:cNvSpPr txBox="1"/>
          <p:nvPr/>
        </p:nvSpPr>
        <p:spPr>
          <a:xfrm>
            <a:off x="2476500" y="4178300"/>
            <a:ext cx="90297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⑴ User table : user ID, Tone</a:t>
            </a:r>
            <a:endParaRPr/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⑵ Item table : 제품명, 색상</a:t>
            </a:r>
            <a:endParaRPr/>
          </a:p>
          <a:p>
            <a:pPr indent="0" lvl="0" marL="0" marR="0" rtl="0" algn="l">
              <a:lnSpc>
                <a:spcPct val="14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⑶ User - Item table : user ID, 제품명, 총점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898" cy="9423399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228" name="Google Shape;22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368300" y="1739900"/>
            <a:ext cx="51181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03. Algorithm</a:t>
            </a:r>
            <a:endParaRPr/>
          </a:p>
        </p:txBody>
      </p:sp>
      <p:pic>
        <p:nvPicPr>
          <p:cNvPr id="236" name="Google Shape;236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82100" y="3340100"/>
            <a:ext cx="38481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3119100" y="3340100"/>
            <a:ext cx="4127500" cy="393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83800" y="3746500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55300" y="3746500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122400" y="3746500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732000" y="3746500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239500" y="3746500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341600" y="3746500"/>
            <a:ext cx="4826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849100" y="3657600"/>
            <a:ext cx="8763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 txBox="1"/>
          <p:nvPr/>
        </p:nvSpPr>
        <p:spPr>
          <a:xfrm>
            <a:off x="1625600" y="3365500"/>
            <a:ext cx="5930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Collaborative Filtering</a:t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2184400" y="4279900"/>
            <a:ext cx="6807200" cy="2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: A system that analyzes 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the interrelationship between users and items to discover new user-item connections, relying on the user's past experiences and behaviors for recommendations. </a:t>
            </a:r>
            <a:endParaRPr/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861800" y="3746500"/>
            <a:ext cx="469900" cy="4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6002000" y="3695700"/>
            <a:ext cx="762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254" name="Google Shape;25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20800" y="4457700"/>
            <a:ext cx="65405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77400" y="4267200"/>
            <a:ext cx="6172200" cy="40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368300" y="1739900"/>
            <a:ext cx="51181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03. Algorithm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625600" y="3365500"/>
            <a:ext cx="5930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▪ Matrix Factorization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8775700" y="3365500"/>
            <a:ext cx="7747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▪ SGD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(Stochastic Gradient Descent)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271" name="Google Shape;2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2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800100" y="17399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04. Implementation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3771900" y="3975100"/>
            <a:ext cx="12103100" cy="40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1-1.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현재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만족하는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색상이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무엇인가요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494A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1-2.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립의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제형은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무엇인가요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       ("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촉촉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매트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상관없음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중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선택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00" u="none" cap="none" strike="noStrike">
              <a:solidFill>
                <a:srgbClr val="494A4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1-3.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적색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호가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포함되지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않은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제품을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추천해드릴까요</a:t>
            </a:r>
            <a:r>
              <a:rPr b="0" i="0" lang="en-US" sz="35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       ("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네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아니오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상관없음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중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선택</a:t>
            </a:r>
            <a:r>
              <a:rPr b="0" i="0" lang="en-US" sz="29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584200" y="2806700"/>
            <a:ext cx="713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정보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(Input)]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3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3784600" y="4000500"/>
            <a:ext cx="121539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1-1.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현재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만족하는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색상이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무엇인가요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브랜드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제품명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    → </a:t>
            </a:r>
            <a:r>
              <a:rPr b="0" i="0" lang="en-US" sz="3300" u="none" cap="none" strike="noStrike">
                <a:solidFill>
                  <a:srgbClr val="568A35"/>
                </a:solidFill>
                <a:latin typeface="Calibri"/>
                <a:ea typeface="Calibri"/>
                <a:cs typeface="Calibri"/>
                <a:sym typeface="Calibri"/>
              </a:rPr>
              <a:t>데이지크</a:t>
            </a:r>
            <a:r>
              <a:rPr b="0" i="0" lang="en-US" sz="3300" u="none" cap="none" strike="noStrike">
                <a:solidFill>
                  <a:srgbClr val="568A35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3300" u="none" cap="none" strike="noStrike">
                <a:solidFill>
                  <a:srgbClr val="568A35"/>
                </a:solidFill>
                <a:latin typeface="Calibri"/>
                <a:ea typeface="Calibri"/>
                <a:cs typeface="Calibri"/>
                <a:sym typeface="Calibri"/>
              </a:rPr>
              <a:t>쥬시듀이틴트</a:t>
            </a:r>
            <a:r>
              <a:rPr b="0" i="0" lang="en-US" sz="3300" u="none" cap="none" strike="noStrike">
                <a:solidFill>
                  <a:srgbClr val="568A35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3300" u="none" cap="none" strike="noStrike">
                <a:solidFill>
                  <a:srgbClr val="568A35"/>
                </a:solidFill>
                <a:latin typeface="Calibri"/>
                <a:ea typeface="Calibri"/>
                <a:cs typeface="Calibri"/>
                <a:sym typeface="Calibri"/>
              </a:rPr>
              <a:t>칠리셔벗</a:t>
            </a:r>
            <a:endParaRPr b="0" i="0" sz="3300" u="none" cap="none" strike="noStrike">
              <a:solidFill>
                <a:srgbClr val="568A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1-2.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원하는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립의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제형은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무엇인가요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("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촉촉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매트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상관없음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중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선택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    → </a:t>
            </a:r>
            <a:r>
              <a:rPr b="0" i="0" lang="en-US" sz="3300" u="none" cap="none" strike="noStrike">
                <a:solidFill>
                  <a:srgbClr val="568A35"/>
                </a:solidFill>
                <a:latin typeface="Calibri"/>
                <a:ea typeface="Calibri"/>
                <a:cs typeface="Calibri"/>
                <a:sym typeface="Calibri"/>
              </a:rPr>
              <a:t>상관없음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1-3.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적색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202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호가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포함되지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않은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제품을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3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추천해드릴까요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  <a:p>
            <a:pPr indent="0" lvl="0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    → </a:t>
            </a:r>
            <a:r>
              <a:rPr b="0" i="0" lang="en-US" sz="3300" u="none" cap="none" strike="noStrike">
                <a:solidFill>
                  <a:srgbClr val="568A35"/>
                </a:solidFill>
                <a:latin typeface="Calibri"/>
                <a:ea typeface="Calibri"/>
                <a:cs typeface="Calibri"/>
                <a:sym typeface="Calibri"/>
              </a:rPr>
              <a:t>네</a:t>
            </a:r>
            <a:r>
              <a:rPr b="0" i="0" lang="en-US" sz="33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    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("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네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아니오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", "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상관없음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중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7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선택</a:t>
            </a:r>
            <a:r>
              <a:rPr b="0" i="0" lang="en-US" sz="27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294" name="Google Shape;294;p13"/>
          <p:cNvSpPr txBox="1"/>
          <p:nvPr/>
        </p:nvSpPr>
        <p:spPr>
          <a:xfrm>
            <a:off x="584200" y="2806700"/>
            <a:ext cx="713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정보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4000" u="none" cap="none" strike="noStrike">
                <a:solidFill>
                  <a:srgbClr val="456E2A"/>
                </a:solidFill>
                <a:latin typeface="Calibri"/>
                <a:ea typeface="Calibri"/>
                <a:cs typeface="Calibri"/>
                <a:sym typeface="Calibri"/>
              </a:rPr>
              <a:t>예시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/>
          </a:p>
        </p:txBody>
      </p:sp>
      <p:pic>
        <p:nvPicPr>
          <p:cNvPr id="295" name="Google Shape;29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68000" y="4622800"/>
            <a:ext cx="63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 txBox="1"/>
          <p:nvPr/>
        </p:nvSpPr>
        <p:spPr>
          <a:xfrm>
            <a:off x="800100" y="17399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04. Implementation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302" name="Google Shape;3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4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-381000" y="17399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05. Result</a:t>
            </a:r>
            <a:endParaRPr/>
          </a:p>
        </p:txBody>
      </p:sp>
      <p:pic>
        <p:nvPicPr>
          <p:cNvPr id="310" name="Google Shape;3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56400" y="25908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00700" y="50038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74000" y="50038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121900" y="50038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2382500" y="50038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668500" y="50038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4"/>
          <p:cNvSpPr txBox="1"/>
          <p:nvPr/>
        </p:nvSpPr>
        <p:spPr>
          <a:xfrm>
            <a:off x="2260600" y="3200400"/>
            <a:ext cx="38227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찾고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싶은</a:t>
            </a: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색상</a:t>
            </a:r>
            <a:endParaRPr/>
          </a:p>
        </p:txBody>
      </p:sp>
      <p:sp>
        <p:nvSpPr>
          <p:cNvPr id="317" name="Google Shape;317;p14"/>
          <p:cNvSpPr txBox="1"/>
          <p:nvPr/>
        </p:nvSpPr>
        <p:spPr>
          <a:xfrm>
            <a:off x="1498600" y="5486400"/>
            <a:ext cx="38227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▪ Top 5</a:t>
            </a:r>
            <a:endParaRPr/>
          </a:p>
        </p:txBody>
      </p:sp>
      <p:sp>
        <p:nvSpPr>
          <p:cNvPr id="318" name="Google Shape;318;p14"/>
          <p:cNvSpPr txBox="1"/>
          <p:nvPr/>
        </p:nvSpPr>
        <p:spPr>
          <a:xfrm>
            <a:off x="6553200" y="7366000"/>
            <a:ext cx="66929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에뛰드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오버글로이틴트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치유의피치숲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더샘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새미스에이드샷틴트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자몽허니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베네피트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스플래시듀이틴트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아일스타일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릴리바이레드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글래시레이어픽싱틴트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치키피치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롬앤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쥬시래스팅틴트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파파야잼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 txBox="1"/>
          <p:nvPr/>
        </p:nvSpPr>
        <p:spPr>
          <a:xfrm>
            <a:off x="13398500" y="7366000"/>
            <a:ext cx="1892300" cy="22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0.992801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0.985882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0.983058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0.981164</a:t>
            </a:r>
            <a:endParaRPr/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0.980134</a:t>
            </a:r>
            <a:endParaRPr/>
          </a:p>
        </p:txBody>
      </p:sp>
      <p:sp>
        <p:nvSpPr>
          <p:cNvPr id="320" name="Google Shape;320;p14"/>
          <p:cNvSpPr txBox="1"/>
          <p:nvPr/>
        </p:nvSpPr>
        <p:spPr>
          <a:xfrm>
            <a:off x="6134100" y="5626100"/>
            <a:ext cx="800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8432800" y="5626100"/>
            <a:ext cx="800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10896600" y="5626100"/>
            <a:ext cx="342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12941300" y="5626100"/>
            <a:ext cx="800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15214600" y="5626100"/>
            <a:ext cx="800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9588500" y="3327400"/>
            <a:ext cx="4381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데이지크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쥬시듀이틴트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칠리셔벗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331" name="Google Shape;3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5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338" name="Google Shape;338;p15"/>
          <p:cNvSpPr txBox="1"/>
          <p:nvPr/>
        </p:nvSpPr>
        <p:spPr>
          <a:xfrm>
            <a:off x="-381000" y="17399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05. Result</a:t>
            </a:r>
            <a:endParaRPr/>
          </a:p>
        </p:txBody>
      </p:sp>
      <p:pic>
        <p:nvPicPr>
          <p:cNvPr id="339" name="Google Shape;339;p15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886200" y="2781300"/>
            <a:ext cx="11480800" cy="6411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345" name="Google Shape;3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97000" y="2832100"/>
            <a:ext cx="15506700" cy="6197600"/>
          </a:xfrm>
          <a:prstGeom prst="rect">
            <a:avLst/>
          </a:prstGeom>
          <a:noFill/>
          <a:ln>
            <a:noFill/>
          </a:ln>
          <a:effectLst>
            <a:outerShdw blurRad="716236" dir="4020000" dist="238200">
              <a:srgbClr val="000000">
                <a:alpha val="20000"/>
              </a:srgbClr>
            </a:outerShdw>
          </a:effectLst>
        </p:spPr>
      </p:pic>
      <p:sp>
        <p:nvSpPr>
          <p:cNvPr id="352" name="Google Shape;352;p16"/>
          <p:cNvSpPr txBox="1"/>
          <p:nvPr/>
        </p:nvSpPr>
        <p:spPr>
          <a:xfrm>
            <a:off x="165100" y="17399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06. Conclusion</a:t>
            </a:r>
            <a:endParaRPr/>
          </a:p>
        </p:txBody>
      </p:sp>
      <p:sp>
        <p:nvSpPr>
          <p:cNvPr id="353" name="Google Shape;353;p16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354" name="Google Shape;354;p16"/>
          <p:cNvSpPr txBox="1"/>
          <p:nvPr/>
        </p:nvSpPr>
        <p:spPr>
          <a:xfrm>
            <a:off x="1892300" y="3441700"/>
            <a:ext cx="120904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데이터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수집의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한계</a:t>
            </a:r>
            <a:endParaRPr/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UI 개발에서의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기술적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제약</a:t>
            </a:r>
            <a:endParaRPr/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추천된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제품에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실제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사용자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리뷰</a:t>
            </a:r>
            <a:endParaRPr/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다양한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카테고리로의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확장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가능성</a:t>
            </a:r>
            <a:endParaRPr/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▪ 퍼스널컬러</a:t>
            </a:r>
            <a:r>
              <a:rPr b="0" i="0" lang="en-US" sz="3000" u="none" cap="none" strike="noStrike">
                <a:solidFill>
                  <a:srgbClr val="494A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진단</a:t>
            </a:r>
            <a:endParaRPr/>
          </a:p>
          <a:p>
            <a:pPr indent="0" lvl="0" marL="0" marR="0" rtl="0" algn="l">
              <a:lnSpc>
                <a:spcPct val="157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494A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17377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1800"/>
            <a:ext cx="17360900" cy="9423400"/>
          </a:xfrm>
          <a:prstGeom prst="rect">
            <a:avLst/>
          </a:prstGeom>
          <a:noFill/>
          <a:ln>
            <a:noFill/>
          </a:ln>
          <a:effectLst>
            <a:outerShdw blurRad="1106733" dir="4020000" dist="362644">
              <a:srgbClr val="000000">
                <a:alpha val="49803"/>
              </a:srgbClr>
            </a:outerShdw>
          </a:effectLst>
        </p:spPr>
      </p:pic>
      <p:pic>
        <p:nvPicPr>
          <p:cNvPr id="360" name="Google Shape;3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31800"/>
            <a:ext cx="1736090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100" y="660400"/>
            <a:ext cx="72898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98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081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3700" y="7747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106900" y="736600"/>
            <a:ext cx="2286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7"/>
          <p:cNvSpPr txBox="1"/>
          <p:nvPr/>
        </p:nvSpPr>
        <p:spPr>
          <a:xfrm>
            <a:off x="6858000" y="698500"/>
            <a:ext cx="45974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2024.12.20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6197600" y="4318000"/>
            <a:ext cx="5943600" cy="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494A4E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지은</dc:creator>
</cp:coreProperties>
</file>